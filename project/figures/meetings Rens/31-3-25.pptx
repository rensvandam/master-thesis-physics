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57" r:id="rId4"/>
    <p:sldId id="258" r:id="rId5"/>
    <p:sldId id="259" r:id="rId6"/>
    <p:sldId id="261" r:id="rId7"/>
    <p:sldId id="262" r:id="rId8"/>
    <p:sldId id="263" r:id="rId9"/>
    <p:sldId id="265" r:id="rId10"/>
    <p:sldId id="266" r:id="rId11"/>
    <p:sldId id="260" r:id="rId1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s van Dam" userId="cbbfe1f2-c982-4950-8b62-7b9019e18432" providerId="ADAL" clId="{C5C220F7-5F03-4D12-96DD-1B230CEA0F76}"/>
    <pc:docChg chg="custSel addSld modSld">
      <pc:chgData name="Rens van Dam" userId="cbbfe1f2-c982-4950-8b62-7b9019e18432" providerId="ADAL" clId="{C5C220F7-5F03-4D12-96DD-1B230CEA0F76}" dt="2025-03-31T14:08:15.708" v="292" actId="1076"/>
      <pc:docMkLst>
        <pc:docMk/>
      </pc:docMkLst>
      <pc:sldChg chg="modSp mod">
        <pc:chgData name="Rens van Dam" userId="cbbfe1f2-c982-4950-8b62-7b9019e18432" providerId="ADAL" clId="{C5C220F7-5F03-4D12-96DD-1B230CEA0F76}" dt="2025-03-31T14:08:15.708" v="292" actId="1076"/>
        <pc:sldMkLst>
          <pc:docMk/>
          <pc:sldMk cId="57920792" sldId="263"/>
        </pc:sldMkLst>
        <pc:spChg chg="mod">
          <ac:chgData name="Rens van Dam" userId="cbbfe1f2-c982-4950-8b62-7b9019e18432" providerId="ADAL" clId="{C5C220F7-5F03-4D12-96DD-1B230CEA0F76}" dt="2025-03-31T07:50:17.174" v="105" actId="20577"/>
          <ac:spMkLst>
            <pc:docMk/>
            <pc:sldMk cId="57920792" sldId="263"/>
            <ac:spMk id="3" creationId="{ECCCD426-3474-9D26-33CC-F5378DE597F8}"/>
          </ac:spMkLst>
        </pc:spChg>
        <pc:picChg chg="mod">
          <ac:chgData name="Rens van Dam" userId="cbbfe1f2-c982-4950-8b62-7b9019e18432" providerId="ADAL" clId="{C5C220F7-5F03-4D12-96DD-1B230CEA0F76}" dt="2025-03-31T14:08:15.708" v="292" actId="1076"/>
          <ac:picMkLst>
            <pc:docMk/>
            <pc:sldMk cId="57920792" sldId="263"/>
            <ac:picMk id="5" creationId="{A0698F45-448C-E8BC-082B-EEA08B051C80}"/>
          </ac:picMkLst>
        </pc:picChg>
      </pc:sldChg>
      <pc:sldChg chg="modSp mod">
        <pc:chgData name="Rens van Dam" userId="cbbfe1f2-c982-4950-8b62-7b9019e18432" providerId="ADAL" clId="{C5C220F7-5F03-4D12-96DD-1B230CEA0F76}" dt="2025-03-31T07:49:08.568" v="88" actId="20577"/>
        <pc:sldMkLst>
          <pc:docMk/>
          <pc:sldMk cId="1898979639" sldId="264"/>
        </pc:sldMkLst>
        <pc:spChg chg="mod">
          <ac:chgData name="Rens van Dam" userId="cbbfe1f2-c982-4950-8b62-7b9019e18432" providerId="ADAL" clId="{C5C220F7-5F03-4D12-96DD-1B230CEA0F76}" dt="2025-03-31T07:49:08.568" v="88" actId="20577"/>
          <ac:spMkLst>
            <pc:docMk/>
            <pc:sldMk cId="1898979639" sldId="264"/>
            <ac:spMk id="3" creationId="{C759B722-BB0D-ED09-452C-0C17D37161DF}"/>
          </ac:spMkLst>
        </pc:spChg>
      </pc:sldChg>
      <pc:sldChg chg="modSp mod">
        <pc:chgData name="Rens van Dam" userId="cbbfe1f2-c982-4950-8b62-7b9019e18432" providerId="ADAL" clId="{C5C220F7-5F03-4D12-96DD-1B230CEA0F76}" dt="2025-03-31T08:35:39.157" v="286" actId="20577"/>
        <pc:sldMkLst>
          <pc:docMk/>
          <pc:sldMk cId="3209908859" sldId="265"/>
        </pc:sldMkLst>
        <pc:spChg chg="mod">
          <ac:chgData name="Rens van Dam" userId="cbbfe1f2-c982-4950-8b62-7b9019e18432" providerId="ADAL" clId="{C5C220F7-5F03-4D12-96DD-1B230CEA0F76}" dt="2025-03-31T08:35:39.157" v="286" actId="20577"/>
          <ac:spMkLst>
            <pc:docMk/>
            <pc:sldMk cId="3209908859" sldId="265"/>
            <ac:spMk id="3" creationId="{AB3266BC-B7AF-E77E-C0A3-4AC5B354384D}"/>
          </ac:spMkLst>
        </pc:spChg>
      </pc:sldChg>
      <pc:sldChg chg="addSp modSp new mod">
        <pc:chgData name="Rens van Dam" userId="cbbfe1f2-c982-4950-8b62-7b9019e18432" providerId="ADAL" clId="{C5C220F7-5F03-4D12-96DD-1B230CEA0F76}" dt="2025-03-31T09:58:01.388" v="291" actId="22"/>
        <pc:sldMkLst>
          <pc:docMk/>
          <pc:sldMk cId="2990493236" sldId="266"/>
        </pc:sldMkLst>
        <pc:picChg chg="add mod">
          <ac:chgData name="Rens van Dam" userId="cbbfe1f2-c982-4950-8b62-7b9019e18432" providerId="ADAL" clId="{C5C220F7-5F03-4D12-96DD-1B230CEA0F76}" dt="2025-03-31T09:51:14.489" v="290" actId="1076"/>
          <ac:picMkLst>
            <pc:docMk/>
            <pc:sldMk cId="2990493236" sldId="266"/>
            <ac:picMk id="5" creationId="{131D606E-DADC-7085-CAC7-CD8DE6CD08AF}"/>
          </ac:picMkLst>
        </pc:picChg>
        <pc:picChg chg="add">
          <ac:chgData name="Rens van Dam" userId="cbbfe1f2-c982-4950-8b62-7b9019e18432" providerId="ADAL" clId="{C5C220F7-5F03-4D12-96DD-1B230CEA0F76}" dt="2025-03-31T09:58:01.388" v="291" actId="22"/>
          <ac:picMkLst>
            <pc:docMk/>
            <pc:sldMk cId="2990493236" sldId="266"/>
            <ac:picMk id="7" creationId="{307A8D90-95F2-1223-F445-571BE3A8152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F64E7-E5F3-4821-BD93-9FC3A0B89EBD}" type="datetimeFigureOut">
              <a:rPr lang="en-NL" smtClean="0"/>
              <a:t>31/03/2025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1A20FA-0332-478D-BFFC-0B7C18B67B00}" type="slidenum">
              <a:rPr lang="en-NL" smtClean="0"/>
              <a:t>‹#›</a:t>
            </a:fld>
            <a:endParaRPr lang="en-NL"/>
          </a:p>
        </p:txBody>
      </p:sp>
    </p:spTree>
    <p:extLst>
      <p:ext uri="{BB962C8B-B14F-4D97-AF65-F5344CB8AC3E}">
        <p14:creationId xmlns:p14="http://schemas.microsoft.com/office/powerpoint/2010/main" val="3699750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The cause of the peak is not the #emitters, but it is enhanced with increasing number of emitters.</a:t>
            </a:r>
            <a:endParaRPr lang="en-NL" dirty="0"/>
          </a:p>
        </p:txBody>
      </p:sp>
      <p:sp>
        <p:nvSpPr>
          <p:cNvPr id="4" name="Slide Number Placeholder 3"/>
          <p:cNvSpPr>
            <a:spLocks noGrp="1"/>
          </p:cNvSpPr>
          <p:nvPr>
            <p:ph type="sldNum" sz="quarter" idx="5"/>
          </p:nvPr>
        </p:nvSpPr>
        <p:spPr/>
        <p:txBody>
          <a:bodyPr/>
          <a:lstStyle/>
          <a:p>
            <a:fld id="{F51A20FA-0332-478D-BFFC-0B7C18B67B00}" type="slidenum">
              <a:rPr lang="en-NL" smtClean="0"/>
              <a:t>3</a:t>
            </a:fld>
            <a:endParaRPr lang="en-NL"/>
          </a:p>
        </p:txBody>
      </p:sp>
    </p:spTree>
    <p:extLst>
      <p:ext uri="{BB962C8B-B14F-4D97-AF65-F5344CB8AC3E}">
        <p14:creationId xmlns:p14="http://schemas.microsoft.com/office/powerpoint/2010/main" val="726226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1C117-63FA-AFA0-9490-E79ABB1244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8BBDF0DA-DC3F-739D-C68F-12CA513022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2DCF90DA-1451-84DE-79DF-E7C964358E01}"/>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6AD3D283-0FE1-B15E-2D02-7546C8B79F9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5763016-EF18-9371-F16D-70F324455BA3}"/>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2587440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265BE-B2BE-80DF-51F1-633A0A7BEC8A}"/>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31980D0-EFF8-E9A4-9CD6-153C4EE232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8861551-2099-724C-8D91-B31A493F254E}"/>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FF0C3864-80A2-C6CE-0CD3-28FEB8D02D0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3740A9D-B0EC-0A97-679C-FA4BF131805A}"/>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2632159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58EBC-3EE9-8AF8-65D8-F455364AE2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ACA790A4-D1BC-9499-FFAA-72959CD1BF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38DCB1-6F6D-D936-CEC7-BA9B4DBA2730}"/>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10FFC395-146F-2A36-5168-7616A44165F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CDDB4FF-9DD6-87A4-9293-3374A96F0F4D}"/>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1612028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DAA30-E77F-1886-9D4C-88DC7DA4F81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1EB3C8A9-DB11-05EB-820D-8DDF5B4F72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AAD858EB-5DC6-2ECD-7C12-1F1EBA045C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F993E073-BE84-AA2D-367E-FFD7FB1A4A7D}"/>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6" name="Footer Placeholder 5">
            <a:extLst>
              <a:ext uri="{FF2B5EF4-FFF2-40B4-BE49-F238E27FC236}">
                <a16:creationId xmlns:a16="http://schemas.microsoft.com/office/drawing/2014/main" id="{9FF0C630-3D4A-176D-44C1-FFB00AF0B05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24F97B4-C524-A902-02DC-0F2A9B6E6604}"/>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18733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F6F13-D934-58F0-CD71-4AD217C3285E}"/>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A885FE5-D8DF-BC19-D5F8-D9C99C1ED5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EA807-524F-8EC3-B05E-A834F31FA8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EF2DC00D-2AE5-8913-3CEF-84A33D6027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A7E6FF-D1AC-E971-60C4-B2FB07FBEA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C42E90BA-5A1C-0053-9D30-2E1147DC970C}"/>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8" name="Footer Placeholder 7">
            <a:extLst>
              <a:ext uri="{FF2B5EF4-FFF2-40B4-BE49-F238E27FC236}">
                <a16:creationId xmlns:a16="http://schemas.microsoft.com/office/drawing/2014/main" id="{6DEBB93C-11A9-8BF7-3A90-FBB657A7529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56DEACC8-EB9C-534C-A47E-8DF613F1829F}"/>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299859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20345-AD65-CA59-9163-6F707451472F}"/>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1FB377A7-0ABA-2731-2D57-1EF3DF46DE2A}"/>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4" name="Footer Placeholder 3">
            <a:extLst>
              <a:ext uri="{FF2B5EF4-FFF2-40B4-BE49-F238E27FC236}">
                <a16:creationId xmlns:a16="http://schemas.microsoft.com/office/drawing/2014/main" id="{9849BF23-F301-9DE5-0ECE-7726CFAA3F2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1305391E-DFD0-01CE-1ACF-BCC5CFD12DBE}"/>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1167450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4F289-EBC8-3425-E523-4EFCEE00D38B}"/>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3" name="Footer Placeholder 2">
            <a:extLst>
              <a:ext uri="{FF2B5EF4-FFF2-40B4-BE49-F238E27FC236}">
                <a16:creationId xmlns:a16="http://schemas.microsoft.com/office/drawing/2014/main" id="{E407EF84-91E3-0745-31BD-24DA9D41D4B3}"/>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74C22482-046B-1D1B-CD86-FF11ABA63759}"/>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354453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342A1-DD7A-4B58-F848-BF1CA595E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C39B7E7D-FBF2-8EF5-F409-07177CB3FF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846479F6-E1BE-42E4-4F3A-2E6C464C7F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7DAF2-884C-C1D3-1D36-840590E20410}"/>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6" name="Footer Placeholder 5">
            <a:extLst>
              <a:ext uri="{FF2B5EF4-FFF2-40B4-BE49-F238E27FC236}">
                <a16:creationId xmlns:a16="http://schemas.microsoft.com/office/drawing/2014/main" id="{8EAC7F04-4B5B-6A52-322B-43FF3A9D041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80BCA364-05D4-D2BC-AE28-173282C031FB}"/>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120991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0F915-493F-2E96-2FB0-57B88BEAD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CB1D607-4A84-3208-766A-2EBE5CC6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80CDC696-7FC2-86A0-A514-4E0578880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8AEC53-4C28-1953-2CB8-E01EDC603E49}"/>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6" name="Footer Placeholder 5">
            <a:extLst>
              <a:ext uri="{FF2B5EF4-FFF2-40B4-BE49-F238E27FC236}">
                <a16:creationId xmlns:a16="http://schemas.microsoft.com/office/drawing/2014/main" id="{6513058A-DF57-FED3-0428-92F25A9FD4E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DCF56B6-504C-0BD5-6C18-9CB77A571FE7}"/>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1966217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203A-3EDA-15D0-83AF-8608E26476C2}"/>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B68BA35-CCE1-CD65-4667-380EDA09AD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BB952255-F3FE-205D-1BA4-9F334E473AAA}"/>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2F9A40DA-B5B1-E223-A0D2-DED60AF1942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015371B-E3D4-EA99-CD5F-314BDA33C835}"/>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3003848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4563D9-64CD-48DC-74EA-AF4CC5A76D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C207E32-89E9-0031-C3FC-FAAAD08E7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554FF09-80EF-6696-B9BF-01A4DB441B4E}"/>
              </a:ext>
            </a:extLst>
          </p:cNvPr>
          <p:cNvSpPr>
            <a:spLocks noGrp="1"/>
          </p:cNvSpPr>
          <p:nvPr>
            <p:ph type="dt" sz="half" idx="10"/>
          </p:nvPr>
        </p:nvSpPr>
        <p:spPr/>
        <p:txBody>
          <a:body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373E1C78-5FB6-F132-7646-945D1B8EA3D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FB9B470-1912-38B2-9E7C-F8E28ED385D3}"/>
              </a:ext>
            </a:extLst>
          </p:cNvPr>
          <p:cNvSpPr>
            <a:spLocks noGrp="1"/>
          </p:cNvSpPr>
          <p:nvPr>
            <p:ph type="sldNum" sz="quarter" idx="12"/>
          </p:nvPr>
        </p:nvSpPr>
        <p:spPr/>
        <p:txBody>
          <a:bodyPr/>
          <a:lstStyle/>
          <a:p>
            <a:fld id="{DC74640C-30C9-4CAC-8363-6546210EC5B4}" type="slidenum">
              <a:rPr lang="en-NL" smtClean="0"/>
              <a:t>‹#›</a:t>
            </a:fld>
            <a:endParaRPr lang="en-NL"/>
          </a:p>
        </p:txBody>
      </p:sp>
    </p:spTree>
    <p:extLst>
      <p:ext uri="{BB962C8B-B14F-4D97-AF65-F5344CB8AC3E}">
        <p14:creationId xmlns:p14="http://schemas.microsoft.com/office/powerpoint/2010/main" val="2721014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EFC760-202D-EE7E-98A2-18CA75381D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063D8A82-9DCC-D3F8-9788-8591A05CE5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9387E36-8707-6906-E030-58AD27D57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D4321B-2086-4AA3-9E05-2AA4E89789E3}" type="datetimeFigureOut">
              <a:rPr lang="en-NL" smtClean="0"/>
              <a:t>31/03/2025</a:t>
            </a:fld>
            <a:endParaRPr lang="en-NL"/>
          </a:p>
        </p:txBody>
      </p:sp>
      <p:sp>
        <p:nvSpPr>
          <p:cNvPr id="5" name="Footer Placeholder 4">
            <a:extLst>
              <a:ext uri="{FF2B5EF4-FFF2-40B4-BE49-F238E27FC236}">
                <a16:creationId xmlns:a16="http://schemas.microsoft.com/office/drawing/2014/main" id="{470E44D1-8498-CBAD-8203-0B1E06EA86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03C5F243-B191-2E48-41AA-851FA03422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74640C-30C9-4CAC-8363-6546210EC5B4}" type="slidenum">
              <a:rPr lang="en-NL" smtClean="0"/>
              <a:t>‹#›</a:t>
            </a:fld>
            <a:endParaRPr lang="en-NL"/>
          </a:p>
        </p:txBody>
      </p:sp>
    </p:spTree>
    <p:extLst>
      <p:ext uri="{BB962C8B-B14F-4D97-AF65-F5344CB8AC3E}">
        <p14:creationId xmlns:p14="http://schemas.microsoft.com/office/powerpoint/2010/main" val="10057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78EE-606D-D0DF-51F8-712B954B102A}"/>
              </a:ext>
            </a:extLst>
          </p:cNvPr>
          <p:cNvSpPr>
            <a:spLocks noGrp="1"/>
          </p:cNvSpPr>
          <p:nvPr>
            <p:ph type="ctrTitle"/>
          </p:nvPr>
        </p:nvSpPr>
        <p:spPr/>
        <p:txBody>
          <a:bodyPr/>
          <a:lstStyle/>
          <a:p>
            <a:r>
              <a:rPr lang="nl-NL" dirty="0"/>
              <a:t>?</a:t>
            </a:r>
            <a:endParaRPr lang="en-NL" dirty="0"/>
          </a:p>
        </p:txBody>
      </p:sp>
      <p:sp>
        <p:nvSpPr>
          <p:cNvPr id="3" name="Subtitle 2">
            <a:extLst>
              <a:ext uri="{FF2B5EF4-FFF2-40B4-BE49-F238E27FC236}">
                <a16:creationId xmlns:a16="http://schemas.microsoft.com/office/drawing/2014/main" id="{6412367B-A696-233D-4893-B5502556AFA4}"/>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698160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01EA-FA51-599F-F32B-9DD5BCFC8EFB}"/>
              </a:ext>
            </a:extLst>
          </p:cNvPr>
          <p:cNvSpPr>
            <a:spLocks noGrp="1"/>
          </p:cNvSpPr>
          <p:nvPr>
            <p:ph type="title"/>
          </p:nvPr>
        </p:nvSpPr>
        <p:spPr/>
        <p:txBody>
          <a:bodyPr/>
          <a:lstStyle/>
          <a:p>
            <a:r>
              <a:rPr lang="nl-NL" dirty="0"/>
              <a:t>Why does the quantum correlation go above 1 at all?</a:t>
            </a:r>
            <a:endParaRPr lang="en-NL" dirty="0"/>
          </a:p>
        </p:txBody>
      </p:sp>
      <p:sp>
        <p:nvSpPr>
          <p:cNvPr id="3" name="Content Placeholder 2">
            <a:extLst>
              <a:ext uri="{FF2B5EF4-FFF2-40B4-BE49-F238E27FC236}">
                <a16:creationId xmlns:a16="http://schemas.microsoft.com/office/drawing/2014/main" id="{C759B722-BB0D-ED09-452C-0C17D37161DF}"/>
              </a:ext>
            </a:extLst>
          </p:cNvPr>
          <p:cNvSpPr>
            <a:spLocks noGrp="1"/>
          </p:cNvSpPr>
          <p:nvPr>
            <p:ph idx="1"/>
          </p:nvPr>
        </p:nvSpPr>
        <p:spPr/>
        <p:txBody>
          <a:bodyPr/>
          <a:lstStyle/>
          <a:p>
            <a:r>
              <a:rPr lang="nl-NL" dirty="0"/>
              <a:t>Normalization (N/m)^2 inaccurate if count rate not uniform</a:t>
            </a:r>
            <a:endParaRPr lang="en-NL" dirty="0"/>
          </a:p>
        </p:txBody>
      </p:sp>
      <p:pic>
        <p:nvPicPr>
          <p:cNvPr id="5" name="Picture 4">
            <a:extLst>
              <a:ext uri="{FF2B5EF4-FFF2-40B4-BE49-F238E27FC236}">
                <a16:creationId xmlns:a16="http://schemas.microsoft.com/office/drawing/2014/main" id="{32283823-310F-85FB-9898-AB4689241D65}"/>
              </a:ext>
            </a:extLst>
          </p:cNvPr>
          <p:cNvPicPr>
            <a:picLocks noChangeAspect="1"/>
          </p:cNvPicPr>
          <p:nvPr/>
        </p:nvPicPr>
        <p:blipFill>
          <a:blip r:embed="rId2"/>
          <a:stretch>
            <a:fillRect/>
          </a:stretch>
        </p:blipFill>
        <p:spPr>
          <a:xfrm>
            <a:off x="1378604" y="3384300"/>
            <a:ext cx="9211272" cy="1233987"/>
          </a:xfrm>
          <a:prstGeom prst="rect">
            <a:avLst/>
          </a:prstGeom>
        </p:spPr>
      </p:pic>
    </p:spTree>
    <p:extLst>
      <p:ext uri="{BB962C8B-B14F-4D97-AF65-F5344CB8AC3E}">
        <p14:creationId xmlns:p14="http://schemas.microsoft.com/office/powerpoint/2010/main" val="1898979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39F4-9AC5-3DDD-4252-4F44396D695F}"/>
              </a:ext>
            </a:extLst>
          </p:cNvPr>
          <p:cNvSpPr>
            <a:spLocks noGrp="1"/>
          </p:cNvSpPr>
          <p:nvPr>
            <p:ph type="title"/>
          </p:nvPr>
        </p:nvSpPr>
        <p:spPr/>
        <p:txBody>
          <a:bodyPr/>
          <a:lstStyle/>
          <a:p>
            <a:r>
              <a:rPr lang="nl-NL" dirty="0"/>
              <a:t>Why the peak after the dead time?</a:t>
            </a:r>
            <a:endParaRPr lang="en-NL" dirty="0"/>
          </a:p>
        </p:txBody>
      </p:sp>
      <p:sp>
        <p:nvSpPr>
          <p:cNvPr id="3" name="Content Placeholder 2">
            <a:extLst>
              <a:ext uri="{FF2B5EF4-FFF2-40B4-BE49-F238E27FC236}">
                <a16:creationId xmlns:a16="http://schemas.microsoft.com/office/drawing/2014/main" id="{38A68752-4C1A-4F08-5967-D6DF5040345E}"/>
              </a:ext>
            </a:extLst>
          </p:cNvPr>
          <p:cNvSpPr>
            <a:spLocks noGrp="1"/>
          </p:cNvSpPr>
          <p:nvPr>
            <p:ph idx="1"/>
          </p:nvPr>
        </p:nvSpPr>
        <p:spPr/>
        <p:txBody>
          <a:bodyPr/>
          <a:lstStyle/>
          <a:p>
            <a:endParaRPr lang="en-NL" dirty="0"/>
          </a:p>
        </p:txBody>
      </p:sp>
      <p:pic>
        <p:nvPicPr>
          <p:cNvPr id="4" name="Picture 3">
            <a:extLst>
              <a:ext uri="{FF2B5EF4-FFF2-40B4-BE49-F238E27FC236}">
                <a16:creationId xmlns:a16="http://schemas.microsoft.com/office/drawing/2014/main" id="{6DDFD5F9-0A9B-DA11-8B1B-084DD7D23620}"/>
              </a:ext>
            </a:extLst>
          </p:cNvPr>
          <p:cNvPicPr>
            <a:picLocks noChangeAspect="1"/>
          </p:cNvPicPr>
          <p:nvPr/>
        </p:nvPicPr>
        <p:blipFill>
          <a:blip r:embed="rId3"/>
          <a:stretch>
            <a:fillRect/>
          </a:stretch>
        </p:blipFill>
        <p:spPr>
          <a:xfrm>
            <a:off x="222530" y="1918189"/>
            <a:ext cx="5643558" cy="3211718"/>
          </a:xfrm>
          <a:prstGeom prst="rect">
            <a:avLst/>
          </a:prstGeom>
        </p:spPr>
      </p:pic>
      <p:sp>
        <p:nvSpPr>
          <p:cNvPr id="5" name="TextBox 4">
            <a:extLst>
              <a:ext uri="{FF2B5EF4-FFF2-40B4-BE49-F238E27FC236}">
                <a16:creationId xmlns:a16="http://schemas.microsoft.com/office/drawing/2014/main" id="{AF5CC62A-3905-9F89-925A-C5C609C638FA}"/>
              </a:ext>
            </a:extLst>
          </p:cNvPr>
          <p:cNvSpPr txBox="1"/>
          <p:nvPr/>
        </p:nvSpPr>
        <p:spPr>
          <a:xfrm>
            <a:off x="0" y="5102698"/>
            <a:ext cx="2656573"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nl-NL" dirty="0"/>
              <a:t>Simulation parameters:</a:t>
            </a:r>
          </a:p>
          <a:p>
            <a:r>
              <a:rPr lang="nl-NL" dirty="0"/>
              <a:t>2 emitters</a:t>
            </a:r>
          </a:p>
          <a:p>
            <a:r>
              <a:rPr lang="nl-NL" dirty="0"/>
              <a:t>330 kw/cm2</a:t>
            </a:r>
          </a:p>
          <a:p>
            <a:r>
              <a:rPr lang="nl-NL" dirty="0"/>
              <a:t>100000ns detection</a:t>
            </a:r>
          </a:p>
          <a:p>
            <a:r>
              <a:rPr lang="nl-NL" dirty="0"/>
              <a:t>Bins of 0.1ns</a:t>
            </a:r>
          </a:p>
          <a:p>
            <a:r>
              <a:rPr lang="nl-NL" dirty="0"/>
              <a:t>Dead time = 50 ns</a:t>
            </a:r>
          </a:p>
        </p:txBody>
      </p:sp>
      <p:cxnSp>
        <p:nvCxnSpPr>
          <p:cNvPr id="7" name="Straight Connector 6">
            <a:extLst>
              <a:ext uri="{FF2B5EF4-FFF2-40B4-BE49-F238E27FC236}">
                <a16:creationId xmlns:a16="http://schemas.microsoft.com/office/drawing/2014/main" id="{9C28161C-4656-C95A-B283-6993D096F749}"/>
              </a:ext>
            </a:extLst>
          </p:cNvPr>
          <p:cNvCxnSpPr/>
          <p:nvPr/>
        </p:nvCxnSpPr>
        <p:spPr>
          <a:xfrm flipV="1">
            <a:off x="5611368" y="1453896"/>
            <a:ext cx="0" cy="5404104"/>
          </a:xfrm>
          <a:prstGeom prst="line">
            <a:avLst/>
          </a:prstGeom>
          <a:ln w="76200"/>
        </p:spPr>
        <p:style>
          <a:lnRef idx="2">
            <a:schemeClr val="dk1"/>
          </a:lnRef>
          <a:fillRef idx="0">
            <a:schemeClr val="dk1"/>
          </a:fillRef>
          <a:effectRef idx="1">
            <a:schemeClr val="dk1"/>
          </a:effectRef>
          <a:fontRef idx="minor">
            <a:schemeClr val="tx1"/>
          </a:fontRef>
        </p:style>
      </p:cxnSp>
      <p:pic>
        <p:nvPicPr>
          <p:cNvPr id="9" name="Picture 8">
            <a:extLst>
              <a:ext uri="{FF2B5EF4-FFF2-40B4-BE49-F238E27FC236}">
                <a16:creationId xmlns:a16="http://schemas.microsoft.com/office/drawing/2014/main" id="{A86A108B-2DCF-7714-3545-B814577DFBAA}"/>
              </a:ext>
            </a:extLst>
          </p:cNvPr>
          <p:cNvPicPr>
            <a:picLocks noChangeAspect="1"/>
          </p:cNvPicPr>
          <p:nvPr/>
        </p:nvPicPr>
        <p:blipFill>
          <a:blip r:embed="rId4"/>
          <a:stretch>
            <a:fillRect/>
          </a:stretch>
        </p:blipFill>
        <p:spPr>
          <a:xfrm>
            <a:off x="5866088" y="1825625"/>
            <a:ext cx="5372665" cy="3211717"/>
          </a:xfrm>
          <a:prstGeom prst="rect">
            <a:avLst/>
          </a:prstGeom>
        </p:spPr>
      </p:pic>
      <p:sp>
        <p:nvSpPr>
          <p:cNvPr id="12" name="TextBox 11">
            <a:extLst>
              <a:ext uri="{FF2B5EF4-FFF2-40B4-BE49-F238E27FC236}">
                <a16:creationId xmlns:a16="http://schemas.microsoft.com/office/drawing/2014/main" id="{B62C6DCC-26E6-B2E9-E1B8-4B51D6531DB3}"/>
              </a:ext>
            </a:extLst>
          </p:cNvPr>
          <p:cNvSpPr txBox="1"/>
          <p:nvPr/>
        </p:nvSpPr>
        <p:spPr>
          <a:xfrm>
            <a:off x="5684520" y="5092354"/>
            <a:ext cx="2656573"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nl-NL" dirty="0"/>
              <a:t>Simulation parameters:</a:t>
            </a:r>
          </a:p>
          <a:p>
            <a:r>
              <a:rPr lang="nl-NL" dirty="0"/>
              <a:t>1 emitter</a:t>
            </a:r>
          </a:p>
          <a:p>
            <a:r>
              <a:rPr lang="nl-NL" dirty="0"/>
              <a:t>330 kw/cm2</a:t>
            </a:r>
          </a:p>
          <a:p>
            <a:r>
              <a:rPr lang="nl-NL" dirty="0"/>
              <a:t>100000ns detection</a:t>
            </a:r>
          </a:p>
          <a:p>
            <a:r>
              <a:rPr lang="nl-NL" dirty="0"/>
              <a:t>Bins of 0.1ns</a:t>
            </a:r>
          </a:p>
          <a:p>
            <a:r>
              <a:rPr lang="nl-NL" dirty="0"/>
              <a:t>Dead time = 50 ns</a:t>
            </a:r>
          </a:p>
        </p:txBody>
      </p:sp>
    </p:spTree>
    <p:extLst>
      <p:ext uri="{BB962C8B-B14F-4D97-AF65-F5344CB8AC3E}">
        <p14:creationId xmlns:p14="http://schemas.microsoft.com/office/powerpoint/2010/main" val="838439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A6B50-22BE-6101-3C38-A9924173323F}"/>
              </a:ext>
            </a:extLst>
          </p:cNvPr>
          <p:cNvSpPr>
            <a:spLocks noGrp="1"/>
          </p:cNvSpPr>
          <p:nvPr>
            <p:ph type="title"/>
          </p:nvPr>
        </p:nvSpPr>
        <p:spPr/>
        <p:txBody>
          <a:bodyPr/>
          <a:lstStyle/>
          <a:p>
            <a:r>
              <a:rPr lang="nl-NL" dirty="0"/>
              <a:t>Why the peak after the dead time?</a:t>
            </a:r>
            <a:endParaRPr lang="en-NL" dirty="0"/>
          </a:p>
        </p:txBody>
      </p:sp>
      <p:sp>
        <p:nvSpPr>
          <p:cNvPr id="3" name="Content Placeholder 2">
            <a:extLst>
              <a:ext uri="{FF2B5EF4-FFF2-40B4-BE49-F238E27FC236}">
                <a16:creationId xmlns:a16="http://schemas.microsoft.com/office/drawing/2014/main" id="{59423D90-704D-CD68-8D57-2F73EC4F5E0D}"/>
              </a:ext>
            </a:extLst>
          </p:cNvPr>
          <p:cNvSpPr>
            <a:spLocks noGrp="1"/>
          </p:cNvSpPr>
          <p:nvPr>
            <p:ph idx="1"/>
          </p:nvPr>
        </p:nvSpPr>
        <p:spPr/>
        <p:txBody>
          <a:bodyPr/>
          <a:lstStyle/>
          <a:p>
            <a:r>
              <a:rPr lang="nl-NL" dirty="0"/>
              <a:t>   What about dead_time = 36.81 ns instead of 50 ns?</a:t>
            </a:r>
          </a:p>
        </p:txBody>
      </p:sp>
      <p:pic>
        <p:nvPicPr>
          <p:cNvPr id="5" name="Picture 4">
            <a:extLst>
              <a:ext uri="{FF2B5EF4-FFF2-40B4-BE49-F238E27FC236}">
                <a16:creationId xmlns:a16="http://schemas.microsoft.com/office/drawing/2014/main" id="{AC70E2D6-F764-28ED-7505-7C53825ACD16}"/>
              </a:ext>
            </a:extLst>
          </p:cNvPr>
          <p:cNvPicPr>
            <a:picLocks noChangeAspect="1"/>
          </p:cNvPicPr>
          <p:nvPr/>
        </p:nvPicPr>
        <p:blipFill>
          <a:blip r:embed="rId2"/>
          <a:stretch>
            <a:fillRect/>
          </a:stretch>
        </p:blipFill>
        <p:spPr>
          <a:xfrm>
            <a:off x="2484726" y="2517636"/>
            <a:ext cx="7222547" cy="4230635"/>
          </a:xfrm>
          <a:prstGeom prst="rect">
            <a:avLst/>
          </a:prstGeom>
        </p:spPr>
      </p:pic>
      <p:sp>
        <p:nvSpPr>
          <p:cNvPr id="6" name="TextBox 5">
            <a:extLst>
              <a:ext uri="{FF2B5EF4-FFF2-40B4-BE49-F238E27FC236}">
                <a16:creationId xmlns:a16="http://schemas.microsoft.com/office/drawing/2014/main" id="{3E7B5367-C64B-1548-A7B8-F32175766C3C}"/>
              </a:ext>
            </a:extLst>
          </p:cNvPr>
          <p:cNvSpPr txBox="1"/>
          <p:nvPr/>
        </p:nvSpPr>
        <p:spPr>
          <a:xfrm>
            <a:off x="838198" y="2256026"/>
            <a:ext cx="2014729" cy="523220"/>
          </a:xfrm>
          <a:prstGeom prst="rect">
            <a:avLst/>
          </a:prstGeom>
          <a:noFill/>
        </p:spPr>
        <p:txBody>
          <a:bodyPr wrap="square" rtlCol="0">
            <a:spAutoFit/>
          </a:bodyPr>
          <a:lstStyle/>
          <a:p>
            <a:pPr marL="457200" indent="-457200">
              <a:buFont typeface="Arial" panose="020B0604020202020204" pitchFamily="34" charset="0"/>
              <a:buChar char="•"/>
            </a:pPr>
            <a:r>
              <a:rPr lang="nl-NL" sz="2800" dirty="0"/>
              <a:t>No luck.</a:t>
            </a:r>
            <a:endParaRPr lang="en-NL" sz="2800" dirty="0"/>
          </a:p>
        </p:txBody>
      </p:sp>
    </p:spTree>
    <p:extLst>
      <p:ext uri="{BB962C8B-B14F-4D97-AF65-F5344CB8AC3E}">
        <p14:creationId xmlns:p14="http://schemas.microsoft.com/office/powerpoint/2010/main" val="105002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EC356-08DF-22C2-E71E-16A63879B0F9}"/>
              </a:ext>
            </a:extLst>
          </p:cNvPr>
          <p:cNvSpPr>
            <a:spLocks noGrp="1"/>
          </p:cNvSpPr>
          <p:nvPr>
            <p:ph type="title"/>
          </p:nvPr>
        </p:nvSpPr>
        <p:spPr/>
        <p:txBody>
          <a:bodyPr/>
          <a:lstStyle/>
          <a:p>
            <a:r>
              <a:rPr lang="nl-NL" dirty="0"/>
              <a:t>Why the peak after the dead time?</a:t>
            </a:r>
            <a:endParaRPr lang="en-NL" dirty="0"/>
          </a:p>
        </p:txBody>
      </p:sp>
      <p:sp>
        <p:nvSpPr>
          <p:cNvPr id="3" name="Content Placeholder 2">
            <a:extLst>
              <a:ext uri="{FF2B5EF4-FFF2-40B4-BE49-F238E27FC236}">
                <a16:creationId xmlns:a16="http://schemas.microsoft.com/office/drawing/2014/main" id="{D3ED0A0B-98EC-4B2F-726C-C57100BE0D42}"/>
              </a:ext>
            </a:extLst>
          </p:cNvPr>
          <p:cNvSpPr>
            <a:spLocks noGrp="1"/>
          </p:cNvSpPr>
          <p:nvPr>
            <p:ph idx="1"/>
          </p:nvPr>
        </p:nvSpPr>
        <p:spPr/>
        <p:txBody>
          <a:bodyPr/>
          <a:lstStyle/>
          <a:p>
            <a:r>
              <a:rPr lang="nl-NL" dirty="0"/>
              <a:t>   What about position changes?</a:t>
            </a:r>
          </a:p>
          <a:p>
            <a:endParaRPr lang="en-NL" dirty="0"/>
          </a:p>
        </p:txBody>
      </p:sp>
      <p:pic>
        <p:nvPicPr>
          <p:cNvPr id="6" name="Picture 5">
            <a:extLst>
              <a:ext uri="{FF2B5EF4-FFF2-40B4-BE49-F238E27FC236}">
                <a16:creationId xmlns:a16="http://schemas.microsoft.com/office/drawing/2014/main" id="{4306F2D9-503C-AD02-79C5-9DFB4B764AF3}"/>
              </a:ext>
            </a:extLst>
          </p:cNvPr>
          <p:cNvPicPr>
            <a:picLocks noChangeAspect="1"/>
          </p:cNvPicPr>
          <p:nvPr/>
        </p:nvPicPr>
        <p:blipFill>
          <a:blip r:embed="rId2"/>
          <a:stretch>
            <a:fillRect/>
          </a:stretch>
        </p:blipFill>
        <p:spPr>
          <a:xfrm>
            <a:off x="4837176" y="2509036"/>
            <a:ext cx="6384553" cy="3839599"/>
          </a:xfrm>
          <a:prstGeom prst="rect">
            <a:avLst/>
          </a:prstGeom>
        </p:spPr>
      </p:pic>
      <p:sp>
        <p:nvSpPr>
          <p:cNvPr id="7" name="TextBox 6">
            <a:extLst>
              <a:ext uri="{FF2B5EF4-FFF2-40B4-BE49-F238E27FC236}">
                <a16:creationId xmlns:a16="http://schemas.microsoft.com/office/drawing/2014/main" id="{A9FED6E9-07EA-FDE3-6984-4E7618779C3A}"/>
              </a:ext>
            </a:extLst>
          </p:cNvPr>
          <p:cNvSpPr txBox="1"/>
          <p:nvPr/>
        </p:nvSpPr>
        <p:spPr>
          <a:xfrm>
            <a:off x="204216" y="4028726"/>
            <a:ext cx="3371088"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nl-NL" dirty="0"/>
              <a:t>Simulation parameters:</a:t>
            </a:r>
          </a:p>
          <a:p>
            <a:r>
              <a:rPr lang="nl-NL" dirty="0"/>
              <a:t>2 emitters</a:t>
            </a:r>
          </a:p>
          <a:p>
            <a:r>
              <a:rPr lang="nl-NL" dirty="0"/>
              <a:t>Positions: </a:t>
            </a:r>
          </a:p>
          <a:p>
            <a:r>
              <a:rPr lang="en-NL" b="0" dirty="0">
                <a:solidFill>
                  <a:srgbClr val="000000"/>
                </a:solidFill>
                <a:effectLst/>
                <a:latin typeface="Consolas" panose="020B0609020204030204" pitchFamily="49" charset="0"/>
              </a:rPr>
              <a:t>[</a:t>
            </a:r>
            <a:r>
              <a:rPr lang="en-NL" b="0" dirty="0">
                <a:solidFill>
                  <a:srgbClr val="098658"/>
                </a:solidFill>
                <a:effectLst/>
                <a:latin typeface="Consolas" panose="020B0609020204030204" pitchFamily="49" charset="0"/>
              </a:rPr>
              <a:t>0.2123</a:t>
            </a:r>
            <a:r>
              <a:rPr lang="en-NL" b="0" dirty="0">
                <a:solidFill>
                  <a:srgbClr val="000000"/>
                </a:solidFill>
                <a:effectLst/>
                <a:latin typeface="Consolas" panose="020B0609020204030204" pitchFamily="49" charset="0"/>
              </a:rPr>
              <a:t>, </a:t>
            </a:r>
            <a:r>
              <a:rPr lang="en-NL" b="0" dirty="0">
                <a:solidFill>
                  <a:srgbClr val="098658"/>
                </a:solidFill>
                <a:effectLst/>
                <a:latin typeface="Consolas" panose="020B0609020204030204" pitchFamily="49" charset="0"/>
              </a:rPr>
              <a:t>0.1634</a:t>
            </a:r>
            <a:r>
              <a:rPr lang="en-NL" b="0" dirty="0">
                <a:solidFill>
                  <a:srgbClr val="000000"/>
                </a:solidFill>
                <a:effectLst/>
                <a:latin typeface="Consolas" panose="020B0609020204030204" pitchFamily="49" charset="0"/>
              </a:rPr>
              <a:t>] [</a:t>
            </a:r>
            <a:r>
              <a:rPr lang="en-NL" b="0" dirty="0">
                <a:solidFill>
                  <a:srgbClr val="098658"/>
                </a:solidFill>
                <a:effectLst/>
                <a:latin typeface="Consolas" panose="020B0609020204030204" pitchFamily="49" charset="0"/>
              </a:rPr>
              <a:t>0.12342</a:t>
            </a:r>
            <a:r>
              <a:rPr lang="en-NL" b="0" dirty="0">
                <a:solidFill>
                  <a:srgbClr val="000000"/>
                </a:solidFill>
                <a:effectLst/>
                <a:latin typeface="Consolas" panose="020B0609020204030204" pitchFamily="49" charset="0"/>
              </a:rPr>
              <a:t>, -</a:t>
            </a:r>
            <a:r>
              <a:rPr lang="en-NL" b="0" dirty="0">
                <a:solidFill>
                  <a:srgbClr val="098658"/>
                </a:solidFill>
                <a:effectLst/>
                <a:latin typeface="Consolas" panose="020B0609020204030204" pitchFamily="49" charset="0"/>
              </a:rPr>
              <a:t>0.01234</a:t>
            </a:r>
            <a:r>
              <a:rPr lang="en-NL" b="0" dirty="0">
                <a:solidFill>
                  <a:srgbClr val="000000"/>
                </a:solidFill>
                <a:effectLst/>
                <a:latin typeface="Consolas" panose="020B0609020204030204" pitchFamily="49" charset="0"/>
              </a:rPr>
              <a:t>]</a:t>
            </a:r>
            <a:r>
              <a:rPr lang="nl-NL" dirty="0"/>
              <a:t>(um)</a:t>
            </a:r>
          </a:p>
          <a:p>
            <a:r>
              <a:rPr lang="nl-NL" dirty="0"/>
              <a:t>330 kw/cm2</a:t>
            </a:r>
          </a:p>
          <a:p>
            <a:r>
              <a:rPr lang="nl-NL" dirty="0"/>
              <a:t>100000ns detection</a:t>
            </a:r>
          </a:p>
          <a:p>
            <a:r>
              <a:rPr lang="nl-NL" dirty="0"/>
              <a:t>Bins of 0.1ns</a:t>
            </a:r>
          </a:p>
          <a:p>
            <a:r>
              <a:rPr lang="nl-NL" dirty="0"/>
              <a:t>Dead time = 46.88 ns</a:t>
            </a:r>
          </a:p>
        </p:txBody>
      </p:sp>
      <p:sp>
        <p:nvSpPr>
          <p:cNvPr id="8" name="TextBox 7">
            <a:extLst>
              <a:ext uri="{FF2B5EF4-FFF2-40B4-BE49-F238E27FC236}">
                <a16:creationId xmlns:a16="http://schemas.microsoft.com/office/drawing/2014/main" id="{F5ACF199-DE73-2227-810A-710FF7815C4F}"/>
              </a:ext>
            </a:extLst>
          </p:cNvPr>
          <p:cNvSpPr txBox="1"/>
          <p:nvPr/>
        </p:nvSpPr>
        <p:spPr>
          <a:xfrm>
            <a:off x="838198" y="2256026"/>
            <a:ext cx="2014729" cy="523220"/>
          </a:xfrm>
          <a:prstGeom prst="rect">
            <a:avLst/>
          </a:prstGeom>
          <a:noFill/>
        </p:spPr>
        <p:txBody>
          <a:bodyPr wrap="square" rtlCol="0">
            <a:spAutoFit/>
          </a:bodyPr>
          <a:lstStyle/>
          <a:p>
            <a:pPr marL="457200" indent="-457200">
              <a:buFont typeface="Arial" panose="020B0604020202020204" pitchFamily="34" charset="0"/>
              <a:buChar char="•"/>
            </a:pPr>
            <a:r>
              <a:rPr lang="nl-NL" sz="2800" dirty="0"/>
              <a:t>No luck.</a:t>
            </a:r>
            <a:endParaRPr lang="en-NL" sz="2800" dirty="0"/>
          </a:p>
        </p:txBody>
      </p:sp>
    </p:spTree>
    <p:extLst>
      <p:ext uri="{BB962C8B-B14F-4D97-AF65-F5344CB8AC3E}">
        <p14:creationId xmlns:p14="http://schemas.microsoft.com/office/powerpoint/2010/main" val="236001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BE5F-E4F9-5677-70D8-DFC92B6096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D108EE-7009-0A56-752D-40CC5E5DBF4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1606B91-CA65-D829-1660-69D5287682A1}"/>
              </a:ext>
            </a:extLst>
          </p:cNvPr>
          <p:cNvPicPr>
            <a:picLocks noChangeAspect="1"/>
          </p:cNvPicPr>
          <p:nvPr/>
        </p:nvPicPr>
        <p:blipFill>
          <a:blip r:embed="rId2"/>
          <a:stretch>
            <a:fillRect/>
          </a:stretch>
        </p:blipFill>
        <p:spPr>
          <a:xfrm>
            <a:off x="231112" y="2940434"/>
            <a:ext cx="5679787" cy="3547533"/>
          </a:xfrm>
          <a:prstGeom prst="rect">
            <a:avLst/>
          </a:prstGeom>
        </p:spPr>
      </p:pic>
      <p:sp>
        <p:nvSpPr>
          <p:cNvPr id="6" name="TextBox 5">
            <a:extLst>
              <a:ext uri="{FF2B5EF4-FFF2-40B4-BE49-F238E27FC236}">
                <a16:creationId xmlns:a16="http://schemas.microsoft.com/office/drawing/2014/main" id="{EFFCC94B-43C6-0CF0-C1C1-F567C266B4C8}"/>
              </a:ext>
            </a:extLst>
          </p:cNvPr>
          <p:cNvSpPr txBox="1"/>
          <p:nvPr/>
        </p:nvSpPr>
        <p:spPr>
          <a:xfrm>
            <a:off x="1608038" y="365125"/>
            <a:ext cx="3371088"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nl-NL" dirty="0"/>
              <a:t>Simulation parameters:</a:t>
            </a:r>
          </a:p>
          <a:p>
            <a:r>
              <a:rPr lang="nl-NL" dirty="0"/>
              <a:t>3 emitters</a:t>
            </a:r>
          </a:p>
          <a:p>
            <a:r>
              <a:rPr lang="nl-NL" dirty="0"/>
              <a:t>Positions centered</a:t>
            </a:r>
          </a:p>
          <a:p>
            <a:r>
              <a:rPr lang="nl-NL" dirty="0"/>
              <a:t>330 kw/cm2</a:t>
            </a:r>
          </a:p>
          <a:p>
            <a:r>
              <a:rPr lang="nl-NL" dirty="0"/>
              <a:t>300000ns detection</a:t>
            </a:r>
          </a:p>
          <a:p>
            <a:r>
              <a:rPr lang="nl-NL" dirty="0"/>
              <a:t>Bins of 0.1ns</a:t>
            </a:r>
          </a:p>
          <a:p>
            <a:r>
              <a:rPr lang="nl-NL" dirty="0"/>
              <a:t>Dead time = 50 ns fixed</a:t>
            </a:r>
          </a:p>
        </p:txBody>
      </p:sp>
      <p:sp>
        <p:nvSpPr>
          <p:cNvPr id="7" name="TextBox 6">
            <a:extLst>
              <a:ext uri="{FF2B5EF4-FFF2-40B4-BE49-F238E27FC236}">
                <a16:creationId xmlns:a16="http://schemas.microsoft.com/office/drawing/2014/main" id="{B880C19F-5C69-28A3-91DB-874E95B410C3}"/>
              </a:ext>
            </a:extLst>
          </p:cNvPr>
          <p:cNvSpPr txBox="1"/>
          <p:nvPr/>
        </p:nvSpPr>
        <p:spPr>
          <a:xfrm>
            <a:off x="7450038" y="372719"/>
            <a:ext cx="3371088"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nl-NL" dirty="0"/>
              <a:t>Simulation parameters:</a:t>
            </a:r>
          </a:p>
          <a:p>
            <a:r>
              <a:rPr lang="nl-NL" dirty="0"/>
              <a:t>3 emitters</a:t>
            </a:r>
          </a:p>
          <a:p>
            <a:r>
              <a:rPr lang="nl-NL" dirty="0"/>
              <a:t>Positions centered</a:t>
            </a:r>
          </a:p>
          <a:p>
            <a:r>
              <a:rPr lang="nl-NL" dirty="0"/>
              <a:t>330 kw/cm2</a:t>
            </a:r>
          </a:p>
          <a:p>
            <a:r>
              <a:rPr lang="nl-NL" dirty="0"/>
              <a:t>300000ns detection</a:t>
            </a:r>
          </a:p>
          <a:p>
            <a:r>
              <a:rPr lang="nl-NL" dirty="0"/>
              <a:t>Bins of 0.1ns</a:t>
            </a:r>
          </a:p>
          <a:p>
            <a:r>
              <a:rPr lang="nl-NL" dirty="0"/>
              <a:t>Dead time = 50 ns +/- 10%</a:t>
            </a:r>
          </a:p>
        </p:txBody>
      </p:sp>
      <p:pic>
        <p:nvPicPr>
          <p:cNvPr id="9" name="Picture 8">
            <a:extLst>
              <a:ext uri="{FF2B5EF4-FFF2-40B4-BE49-F238E27FC236}">
                <a16:creationId xmlns:a16="http://schemas.microsoft.com/office/drawing/2014/main" id="{0129F9AD-92D6-BF81-A7B7-C7C264B8512E}"/>
              </a:ext>
            </a:extLst>
          </p:cNvPr>
          <p:cNvPicPr>
            <a:picLocks noChangeAspect="1"/>
          </p:cNvPicPr>
          <p:nvPr/>
        </p:nvPicPr>
        <p:blipFill>
          <a:blip r:embed="rId3"/>
          <a:stretch>
            <a:fillRect/>
          </a:stretch>
        </p:blipFill>
        <p:spPr>
          <a:xfrm>
            <a:off x="6018635" y="2849946"/>
            <a:ext cx="6032822" cy="3728508"/>
          </a:xfrm>
          <a:prstGeom prst="rect">
            <a:avLst/>
          </a:prstGeom>
        </p:spPr>
      </p:pic>
    </p:spTree>
    <p:extLst>
      <p:ext uri="{BB962C8B-B14F-4D97-AF65-F5344CB8AC3E}">
        <p14:creationId xmlns:p14="http://schemas.microsoft.com/office/powerpoint/2010/main" val="96447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AC8E-BAC4-47E6-EE00-73CA521A7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9B9F7-C3F6-1931-F1AA-A43901314B3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B5A9A9B-2650-B10E-9D17-ACDCD0A15CF6}"/>
              </a:ext>
            </a:extLst>
          </p:cNvPr>
          <p:cNvSpPr>
            <a:spLocks noGrp="1"/>
          </p:cNvSpPr>
          <p:nvPr>
            <p:ph idx="1"/>
          </p:nvPr>
        </p:nvSpPr>
        <p:spPr/>
        <p:txBody>
          <a:bodyPr/>
          <a:lstStyle/>
          <a:p>
            <a:r>
              <a:rPr lang="nl-NL" dirty="0"/>
              <a:t>Wave effect remains.</a:t>
            </a:r>
            <a:endParaRPr lang="en-NL" dirty="0"/>
          </a:p>
        </p:txBody>
      </p:sp>
      <p:pic>
        <p:nvPicPr>
          <p:cNvPr id="5" name="Picture 4">
            <a:extLst>
              <a:ext uri="{FF2B5EF4-FFF2-40B4-BE49-F238E27FC236}">
                <a16:creationId xmlns:a16="http://schemas.microsoft.com/office/drawing/2014/main" id="{B4168FA9-67E8-0AD5-7A66-CE8F27282140}"/>
              </a:ext>
            </a:extLst>
          </p:cNvPr>
          <p:cNvPicPr>
            <a:picLocks noChangeAspect="1"/>
          </p:cNvPicPr>
          <p:nvPr/>
        </p:nvPicPr>
        <p:blipFill>
          <a:blip r:embed="rId2"/>
          <a:stretch>
            <a:fillRect/>
          </a:stretch>
        </p:blipFill>
        <p:spPr>
          <a:xfrm>
            <a:off x="231112" y="2940434"/>
            <a:ext cx="5679787" cy="3547533"/>
          </a:xfrm>
          <a:prstGeom prst="rect">
            <a:avLst/>
          </a:prstGeom>
        </p:spPr>
      </p:pic>
      <p:pic>
        <p:nvPicPr>
          <p:cNvPr id="9" name="Picture 8">
            <a:extLst>
              <a:ext uri="{FF2B5EF4-FFF2-40B4-BE49-F238E27FC236}">
                <a16:creationId xmlns:a16="http://schemas.microsoft.com/office/drawing/2014/main" id="{A532155C-86DD-EC96-7D60-DD3E9A2FA53E}"/>
              </a:ext>
            </a:extLst>
          </p:cNvPr>
          <p:cNvPicPr>
            <a:picLocks noChangeAspect="1"/>
          </p:cNvPicPr>
          <p:nvPr/>
        </p:nvPicPr>
        <p:blipFill>
          <a:blip r:embed="rId3"/>
          <a:stretch>
            <a:fillRect/>
          </a:stretch>
        </p:blipFill>
        <p:spPr>
          <a:xfrm>
            <a:off x="6018635" y="2849946"/>
            <a:ext cx="6032822" cy="3728508"/>
          </a:xfrm>
          <a:prstGeom prst="rect">
            <a:avLst/>
          </a:prstGeom>
        </p:spPr>
      </p:pic>
    </p:spTree>
    <p:extLst>
      <p:ext uri="{BB962C8B-B14F-4D97-AF65-F5344CB8AC3E}">
        <p14:creationId xmlns:p14="http://schemas.microsoft.com/office/powerpoint/2010/main" val="335692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605D-388B-2FAB-5C5D-EA08AEBB3489}"/>
              </a:ext>
            </a:extLst>
          </p:cNvPr>
          <p:cNvSpPr>
            <a:spLocks noGrp="1"/>
          </p:cNvSpPr>
          <p:nvPr>
            <p:ph type="title"/>
          </p:nvPr>
        </p:nvSpPr>
        <p:spPr>
          <a:xfrm>
            <a:off x="838199" y="365125"/>
            <a:ext cx="10710333" cy="1325563"/>
          </a:xfrm>
        </p:spPr>
        <p:txBody>
          <a:bodyPr/>
          <a:lstStyle/>
          <a:p>
            <a:r>
              <a:rPr lang="nl-NL" dirty="0"/>
              <a:t>What about Poissonian light (no anti-bunching)</a:t>
            </a:r>
            <a:endParaRPr lang="en-NL" dirty="0"/>
          </a:p>
        </p:txBody>
      </p:sp>
      <p:sp>
        <p:nvSpPr>
          <p:cNvPr id="3" name="Content Placeholder 2">
            <a:extLst>
              <a:ext uri="{FF2B5EF4-FFF2-40B4-BE49-F238E27FC236}">
                <a16:creationId xmlns:a16="http://schemas.microsoft.com/office/drawing/2014/main" id="{ECCCD426-3474-9D26-33CC-F5378DE597F8}"/>
              </a:ext>
            </a:extLst>
          </p:cNvPr>
          <p:cNvSpPr>
            <a:spLocks noGrp="1"/>
          </p:cNvSpPr>
          <p:nvPr>
            <p:ph idx="1"/>
          </p:nvPr>
        </p:nvSpPr>
        <p:spPr/>
        <p:txBody>
          <a:bodyPr/>
          <a:lstStyle/>
          <a:p>
            <a:r>
              <a:rPr lang="nl-NL" dirty="0"/>
              <a:t>No change.</a:t>
            </a:r>
            <a:endParaRPr lang="en-NL" dirty="0"/>
          </a:p>
        </p:txBody>
      </p:sp>
      <p:pic>
        <p:nvPicPr>
          <p:cNvPr id="5" name="Picture 4">
            <a:extLst>
              <a:ext uri="{FF2B5EF4-FFF2-40B4-BE49-F238E27FC236}">
                <a16:creationId xmlns:a16="http://schemas.microsoft.com/office/drawing/2014/main" id="{A0698F45-448C-E8BC-082B-EEA08B051C80}"/>
              </a:ext>
            </a:extLst>
          </p:cNvPr>
          <p:cNvPicPr>
            <a:picLocks noChangeAspect="1"/>
          </p:cNvPicPr>
          <p:nvPr/>
        </p:nvPicPr>
        <p:blipFill>
          <a:blip r:embed="rId2"/>
          <a:stretch>
            <a:fillRect/>
          </a:stretch>
        </p:blipFill>
        <p:spPr>
          <a:xfrm>
            <a:off x="2754231" y="2463586"/>
            <a:ext cx="6683537" cy="4115014"/>
          </a:xfrm>
          <a:prstGeom prst="rect">
            <a:avLst/>
          </a:prstGeom>
        </p:spPr>
      </p:pic>
    </p:spTree>
    <p:extLst>
      <p:ext uri="{BB962C8B-B14F-4D97-AF65-F5344CB8AC3E}">
        <p14:creationId xmlns:p14="http://schemas.microsoft.com/office/powerpoint/2010/main" val="57920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C21D-D133-89CD-2856-92E60AA7EFE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B3266BC-B7AF-E77E-C0A3-4AC5B354384D}"/>
              </a:ext>
            </a:extLst>
          </p:cNvPr>
          <p:cNvSpPr>
            <a:spLocks noGrp="1"/>
          </p:cNvSpPr>
          <p:nvPr>
            <p:ph idx="1"/>
          </p:nvPr>
        </p:nvSpPr>
        <p:spPr/>
        <p:txBody>
          <a:bodyPr/>
          <a:lstStyle/>
          <a:p>
            <a:r>
              <a:rPr lang="nl-NL" dirty="0"/>
              <a:t>330kW/cm2 =&gt; about 19000 photons in 100000 ns =&gt; rate of 0.2/ns. </a:t>
            </a:r>
          </a:p>
          <a:p>
            <a:r>
              <a:rPr lang="nl-NL" dirty="0"/>
              <a:t>For 50 ns dead time, about 10000 detected instead of 19000.</a:t>
            </a:r>
          </a:p>
          <a:p>
            <a:endParaRPr lang="nl-NL" dirty="0"/>
          </a:p>
          <a:p>
            <a:r>
              <a:rPr lang="nl-NL" dirty="0"/>
              <a:t>If the intensity is high enough, you will get this effect. The highest detection probability p(tau) = p(tau_deadtime), if the intensity is so high that it ‘saturates’ the pixels on a very short timescale. This p(tau) will then decrease;</a:t>
            </a:r>
            <a:endParaRPr lang="en-NL" dirty="0"/>
          </a:p>
        </p:txBody>
      </p:sp>
    </p:spTree>
    <p:extLst>
      <p:ext uri="{BB962C8B-B14F-4D97-AF65-F5344CB8AC3E}">
        <p14:creationId xmlns:p14="http://schemas.microsoft.com/office/powerpoint/2010/main" val="3209908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E365-71D6-8AB5-0130-9AF14F1A018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CADA65E-E0C4-0693-395A-70F00D01080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31D606E-DADC-7085-CAC7-CD8DE6CD08AF}"/>
              </a:ext>
            </a:extLst>
          </p:cNvPr>
          <p:cNvPicPr>
            <a:picLocks noChangeAspect="1"/>
          </p:cNvPicPr>
          <p:nvPr/>
        </p:nvPicPr>
        <p:blipFill>
          <a:blip r:embed="rId2"/>
          <a:stretch>
            <a:fillRect/>
          </a:stretch>
        </p:blipFill>
        <p:spPr>
          <a:xfrm>
            <a:off x="1703724" y="264036"/>
            <a:ext cx="8784551" cy="6593964"/>
          </a:xfrm>
          <a:prstGeom prst="rect">
            <a:avLst/>
          </a:prstGeom>
        </p:spPr>
      </p:pic>
      <p:pic>
        <p:nvPicPr>
          <p:cNvPr id="7" name="Picture 6">
            <a:extLst>
              <a:ext uri="{FF2B5EF4-FFF2-40B4-BE49-F238E27FC236}">
                <a16:creationId xmlns:a16="http://schemas.microsoft.com/office/drawing/2014/main" id="{307A8D90-95F2-1223-F445-571BE3A81523}"/>
              </a:ext>
            </a:extLst>
          </p:cNvPr>
          <p:cNvPicPr>
            <a:picLocks noChangeAspect="1"/>
          </p:cNvPicPr>
          <p:nvPr/>
        </p:nvPicPr>
        <p:blipFill>
          <a:blip r:embed="rId3"/>
          <a:stretch>
            <a:fillRect/>
          </a:stretch>
        </p:blipFill>
        <p:spPr>
          <a:xfrm>
            <a:off x="1463367" y="0"/>
            <a:ext cx="9265266" cy="6858000"/>
          </a:xfrm>
          <a:prstGeom prst="rect">
            <a:avLst/>
          </a:prstGeom>
        </p:spPr>
      </p:pic>
    </p:spTree>
    <p:extLst>
      <p:ext uri="{BB962C8B-B14F-4D97-AF65-F5344CB8AC3E}">
        <p14:creationId xmlns:p14="http://schemas.microsoft.com/office/powerpoint/2010/main" val="2990493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79443-66E7-E109-DBC5-D87B961F8F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4BC18D-D840-8931-8DED-87EA741E2CEC}"/>
              </a:ext>
            </a:extLst>
          </p:cNvPr>
          <p:cNvSpPr>
            <a:spLocks noGrp="1"/>
          </p:cNvSpPr>
          <p:nvPr>
            <p:ph idx="1"/>
          </p:nvPr>
        </p:nvSpPr>
        <p:spPr/>
        <p:txBody>
          <a:bodyPr/>
          <a:lstStyle/>
          <a:p>
            <a:r>
              <a:rPr lang="nl-NL" dirty="0"/>
              <a:t>Na de dead time (waar dus 1 pixel weer beschikbaar is) gaat de objectieve kans op detectie wat omhoog op een determinische tijdsafstand van de vorige detectie (de deadtime). Daardoor is er geen enkele andere tijdsafstand behalve de deadtime waar zoveel kans op detectie is! En dat verklaart ook de x*deadtime pieken: daar is wéér hogere kans op detectie dan op de vorige, maar lager dan bij de eerste omdat fotonen nou eenmaal stochastisch aankomen (kan bijv ook een paar ns nádat de deadtime klaar is). De expotentiele curve omlaag na de eerte hoge piek is ook gewoon dat stochastische proces, de kans gaat van objectief groter naar gewoon weer een ‘normale ‘ kans. </a:t>
            </a:r>
            <a:endParaRPr lang="en-NL" dirty="0"/>
          </a:p>
        </p:txBody>
      </p:sp>
    </p:spTree>
    <p:extLst>
      <p:ext uri="{BB962C8B-B14F-4D97-AF65-F5344CB8AC3E}">
        <p14:creationId xmlns:p14="http://schemas.microsoft.com/office/powerpoint/2010/main" val="3044463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4312</TotalTime>
  <Words>445</Words>
  <Application>Microsoft Office PowerPoint</Application>
  <PresentationFormat>Widescreen</PresentationFormat>
  <Paragraphs>54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Consolas</vt:lpstr>
      <vt:lpstr>Office Theme</vt:lpstr>
      <vt:lpstr>?</vt:lpstr>
      <vt:lpstr>Why does the quantum correlation go above 1 at all?</vt:lpstr>
      <vt:lpstr>Why the peak after the dead time?</vt:lpstr>
      <vt:lpstr>Why the peak after the dead time?</vt:lpstr>
      <vt:lpstr>Why the peak after the dead time?</vt:lpstr>
      <vt:lpstr>PowerPoint Presentation</vt:lpstr>
      <vt:lpstr>PowerPoint Presentation</vt:lpstr>
      <vt:lpstr>What about Poissonian light (no anti-bunching)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Rens van Dam</dc:creator>
  <cp:lastModifiedBy>Rens van Dam</cp:lastModifiedBy>
  <cp:revision>1</cp:revision>
  <dcterms:created xsi:type="dcterms:W3CDTF">2025-03-27T15:20:57Z</dcterms:created>
  <dcterms:modified xsi:type="dcterms:W3CDTF">2025-03-31T14:08:26Z</dcterms:modified>
</cp:coreProperties>
</file>